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102240" y="2386744"/>
            <a:ext cx="693952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500">
                <a:solidFill>
                  <a:srgbClr val="262626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1396" y="4352544"/>
            <a:ext cx="5101209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19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4229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6909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106424" y="2386744"/>
            <a:ext cx="6940296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500">
                <a:solidFill>
                  <a:srgbClr val="262626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1396" y="4352465"/>
            <a:ext cx="5101209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1900">
                <a:solidFill>
                  <a:schemeClr val="tx1"/>
                </a:solidFill>
              </a:defRPr>
            </a:lvl1pPr>
            <a:lvl2pPr marL="45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3830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2239" y="2638044"/>
            <a:ext cx="3288023" cy="310198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3737" y="2638044"/>
            <a:ext cx="3290516" cy="310198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6492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2239" y="2313434"/>
            <a:ext cx="3288024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2239" y="3143250"/>
            <a:ext cx="3288024" cy="259677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737" y="3143250"/>
            <a:ext cx="3290516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753737" y="2313434"/>
            <a:ext cx="3290516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0899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582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947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40703" y="2243829"/>
            <a:ext cx="3290594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100">
                <a:solidFill>
                  <a:srgbClr val="262626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2060" y="804672"/>
            <a:ext cx="361188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2965" y="3549918"/>
            <a:ext cx="284607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640703" y="6236208"/>
            <a:ext cx="3806398" cy="320040"/>
          </a:xfrm>
        </p:spPr>
        <p:txBody>
          <a:bodyPr>
            <a:normAutofit/>
          </a:bodyPr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5827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1" y="0"/>
            <a:ext cx="4571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40080" y="2243828"/>
            <a:ext cx="3291840" cy="1143000"/>
          </a:xfrm>
          <a:solidFill>
            <a:srgbClr val="FFFFFF"/>
          </a:solidFill>
          <a:ln>
            <a:solidFill>
              <a:srgbClr val="262626"/>
            </a:solidFill>
          </a:ln>
        </p:spPr>
        <p:txBody>
          <a:bodyPr anchor="ctr" anchorCtr="1">
            <a:noAutofit/>
          </a:bodyPr>
          <a:lstStyle>
            <a:lvl1pPr>
              <a:defRPr sz="2100">
                <a:solidFill>
                  <a:srgbClr val="262626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72000" y="-42172"/>
            <a:ext cx="4576573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2965" y="3549919"/>
            <a:ext cx="284607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40080" y="6236208"/>
            <a:ext cx="3803904" cy="320040"/>
          </a:xfrm>
        </p:spPr>
        <p:txBody>
          <a:bodyPr>
            <a:normAutofit/>
          </a:bodyPr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2975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930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9834" y="937260"/>
            <a:ext cx="1053966" cy="498348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06046" y="937260"/>
            <a:ext cx="4716174" cy="498348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362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1606045" y="964692"/>
            <a:ext cx="5937755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6045" y="2638045"/>
            <a:ext cx="5937755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78943" y="6238816"/>
            <a:ext cx="2065310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02239" y="6236208"/>
            <a:ext cx="4556664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4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739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6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44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28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ristianPlatero" TargetMode="External"/><Relationship Id="rId2" Type="http://schemas.openxmlformats.org/officeDocument/2006/relationships/hyperlink" Target="https://github.com/lina-educantabria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tiimurr" TargetMode="External"/><Relationship Id="rId5" Type="http://schemas.openxmlformats.org/officeDocument/2006/relationships/hyperlink" Target="https://github.com/Ossel18" TargetMode="External"/><Relationship Id="rId4" Type="http://schemas.openxmlformats.org/officeDocument/2006/relationships/hyperlink" Target="https://github.com/RFCDAW1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9">
            <a:extLst>
              <a:ext uri="{FF2B5EF4-FFF2-40B4-BE49-F238E27FC236}">
                <a16:creationId xmlns:a16="http://schemas.microsoft.com/office/drawing/2014/main" id="{3F47E20B-1205-4238-A82B-90EF577F32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1">
            <a:extLst>
              <a:ext uri="{FF2B5EF4-FFF2-40B4-BE49-F238E27FC236}">
                <a16:creationId xmlns:a16="http://schemas.microsoft.com/office/drawing/2014/main" id="{D13567AC-EB9A-47A9-B6EC-B5BDB73B11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2271" y="1005680"/>
            <a:ext cx="2724027" cy="2423320"/>
          </a:xfrm>
          <a:noFill/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r>
              <a:rPr lang="es-ES" sz="2200" dirty="0">
                <a:solidFill>
                  <a:schemeClr val="bg1"/>
                </a:solidFill>
              </a:rPr>
              <a:t>{</a:t>
            </a:r>
            <a:br>
              <a:rPr lang="es-ES" sz="2200" dirty="0">
                <a:solidFill>
                  <a:schemeClr val="bg1"/>
                </a:solidFill>
              </a:rPr>
            </a:br>
            <a:r>
              <a:rPr lang="es-ES" sz="2200" dirty="0">
                <a:solidFill>
                  <a:schemeClr val="bg1"/>
                </a:solidFill>
              </a:rPr>
              <a:t>Inventario Taller informática</a:t>
            </a:r>
            <a:br>
              <a:rPr lang="es-ES" sz="2200" dirty="0">
                <a:solidFill>
                  <a:schemeClr val="bg1"/>
                </a:solidFill>
              </a:rPr>
            </a:br>
            <a:r>
              <a:rPr lang="es-ES" sz="2200" dirty="0">
                <a:solidFill>
                  <a:schemeClr val="bg1"/>
                </a:solidFill>
              </a:rPr>
              <a:t>}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24832" y="4352544"/>
            <a:ext cx="2561466" cy="123989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endParaRPr lang="pt-BR" sz="1600" dirty="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</a:pPr>
            <a:endParaRPr lang="pt-BR" sz="1600" dirty="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</a:pPr>
            <a:endParaRPr lang="pt-BR" sz="1600" dirty="0">
              <a:solidFill>
                <a:schemeClr val="bg1"/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DEC0DF2-88D3-68F3-2879-15D2F61308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3321" y="413561"/>
            <a:ext cx="4688077" cy="867293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FE523533-6D8D-7181-4A33-AD82AC4BD6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3322" y="3858768"/>
            <a:ext cx="4688077" cy="2678901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949DBFD6-862D-9292-77AE-10D427DCD6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052" y="5151916"/>
            <a:ext cx="2871025" cy="700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Quiénes somos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s-ES" b="1" dirty="0"/>
              <a:t>Lina </a:t>
            </a:r>
            <a:r>
              <a:rPr lang="es-ES" b="1" dirty="0" err="1"/>
              <a:t>Ivelinova</a:t>
            </a:r>
            <a:r>
              <a:rPr lang="es-ES" b="1" dirty="0"/>
              <a:t> Angelova</a:t>
            </a:r>
            <a:r>
              <a:rPr lang="es-ES" dirty="0"/>
              <a:t> — </a:t>
            </a:r>
            <a:r>
              <a:rPr lang="es-ES" u="sng" dirty="0">
                <a:hlinkClick r:id="rId2"/>
              </a:rPr>
              <a:t>@lina-educantabria</a:t>
            </a:r>
            <a:r>
              <a:rPr lang="es-ES" dirty="0"/>
              <a:t> </a:t>
            </a:r>
          </a:p>
          <a:p>
            <a:pPr>
              <a:lnSpc>
                <a:spcPct val="150000"/>
              </a:lnSpc>
            </a:pPr>
            <a:r>
              <a:rPr lang="es-ES" b="1" dirty="0"/>
              <a:t>Cristian Platero Zayago</a:t>
            </a:r>
            <a:r>
              <a:rPr lang="es-ES" dirty="0"/>
              <a:t> — </a:t>
            </a:r>
            <a:r>
              <a:rPr lang="es-ES" u="sng" dirty="0">
                <a:hlinkClick r:id="rId3"/>
              </a:rPr>
              <a:t>@CristianPlatero</a:t>
            </a:r>
            <a:r>
              <a:rPr lang="es-ES" dirty="0"/>
              <a:t> </a:t>
            </a:r>
          </a:p>
          <a:p>
            <a:pPr>
              <a:lnSpc>
                <a:spcPct val="150000"/>
              </a:lnSpc>
            </a:pPr>
            <a:r>
              <a:rPr lang="es-ES" b="1" dirty="0"/>
              <a:t>Rubén Fernández Carpintero</a:t>
            </a:r>
            <a:r>
              <a:rPr lang="es-ES" dirty="0"/>
              <a:t> — </a:t>
            </a:r>
            <a:r>
              <a:rPr lang="es-ES" u="sng" dirty="0">
                <a:hlinkClick r:id="rId4"/>
              </a:rPr>
              <a:t>@RFCDAW1</a:t>
            </a:r>
            <a:r>
              <a:rPr lang="es-ES" dirty="0"/>
              <a:t> </a:t>
            </a:r>
          </a:p>
          <a:p>
            <a:pPr>
              <a:lnSpc>
                <a:spcPct val="150000"/>
              </a:lnSpc>
            </a:pPr>
            <a:r>
              <a:rPr lang="es-ES" b="1" dirty="0" err="1"/>
              <a:t>Ossel</a:t>
            </a:r>
            <a:r>
              <a:rPr lang="es-ES" b="1" dirty="0"/>
              <a:t> Santamaría Bustelo</a:t>
            </a:r>
            <a:r>
              <a:rPr lang="es-ES" dirty="0"/>
              <a:t> — </a:t>
            </a:r>
            <a:r>
              <a:rPr lang="es-ES" u="sng" dirty="0">
                <a:hlinkClick r:id="rId5"/>
              </a:rPr>
              <a:t>@Ossel18</a:t>
            </a:r>
            <a:r>
              <a:rPr lang="es-ES" dirty="0"/>
              <a:t> </a:t>
            </a:r>
          </a:p>
          <a:p>
            <a:pPr>
              <a:lnSpc>
                <a:spcPct val="150000"/>
              </a:lnSpc>
            </a:pPr>
            <a:r>
              <a:rPr lang="es-ES" b="1" dirty="0"/>
              <a:t>Timur </a:t>
            </a:r>
            <a:r>
              <a:rPr lang="es-ES" b="1" dirty="0" err="1"/>
              <a:t>Asecov</a:t>
            </a:r>
            <a:r>
              <a:rPr lang="es-ES" dirty="0"/>
              <a:t> — </a:t>
            </a:r>
            <a:r>
              <a:rPr lang="es-ES" u="sng" dirty="0">
                <a:hlinkClick r:id="rId6"/>
              </a:rPr>
              <a:t>@tiimurr</a:t>
            </a:r>
            <a:r>
              <a:rPr lang="es-ES" dirty="0"/>
              <a:t> 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Metodología de trabajo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6045" y="2638044"/>
            <a:ext cx="2965955" cy="3854195"/>
          </a:xfrm>
        </p:spPr>
        <p:txBody>
          <a:bodyPr>
            <a:normAutofit fontScale="85000" lnSpcReduction="10000"/>
          </a:bodyPr>
          <a:lstStyle/>
          <a:p>
            <a:pPr algn="ctr"/>
            <a:r>
              <a:rPr b="1" dirty="0"/>
              <a:t>SCRUM</a:t>
            </a:r>
          </a:p>
          <a:p>
            <a:r>
              <a:rPr lang="es-ES" b="1" dirty="0"/>
              <a:t>Sprint</a:t>
            </a:r>
            <a:endParaRPr lang="es-ES" dirty="0"/>
          </a:p>
          <a:p>
            <a:pPr lvl="1"/>
            <a:r>
              <a:rPr lang="es-ES" dirty="0"/>
              <a:t>Desarrollo</a:t>
            </a:r>
          </a:p>
          <a:p>
            <a:pPr lvl="1"/>
            <a:r>
              <a:rPr lang="es-ES" dirty="0"/>
              <a:t>Pair </a:t>
            </a:r>
            <a:r>
              <a:rPr lang="es-ES" dirty="0" err="1"/>
              <a:t>Programming</a:t>
            </a:r>
            <a:r>
              <a:rPr lang="es-ES" dirty="0"/>
              <a:t> (cómo programamos)</a:t>
            </a:r>
          </a:p>
          <a:p>
            <a:r>
              <a:rPr lang="es-ES" b="1" dirty="0"/>
              <a:t>Daily Meeting</a:t>
            </a:r>
            <a:endParaRPr lang="es-ES" dirty="0"/>
          </a:p>
          <a:p>
            <a:pPr lvl="1"/>
            <a:r>
              <a:rPr lang="es-ES" dirty="0"/>
              <a:t>Seguimiento de parejas y tareas</a:t>
            </a:r>
          </a:p>
          <a:p>
            <a:r>
              <a:rPr lang="es-ES" b="1" dirty="0"/>
              <a:t>Sprint </a:t>
            </a:r>
            <a:r>
              <a:rPr lang="es-ES" b="1" dirty="0" err="1"/>
              <a:t>Review</a:t>
            </a:r>
            <a:endParaRPr lang="es-ES" dirty="0"/>
          </a:p>
          <a:p>
            <a:pPr lvl="1"/>
            <a:r>
              <a:rPr lang="es-ES" dirty="0"/>
              <a:t>Presentación del trabajo realizado</a:t>
            </a:r>
          </a:p>
          <a:p>
            <a:r>
              <a:rPr lang="es-ES" b="1" dirty="0"/>
              <a:t>Retrospective</a:t>
            </a:r>
            <a:endParaRPr lang="es-ES" dirty="0"/>
          </a:p>
          <a:p>
            <a:pPr lvl="1"/>
            <a:r>
              <a:rPr lang="es-ES" dirty="0"/>
              <a:t>Evaluación del uso de Pair </a:t>
            </a:r>
            <a:r>
              <a:rPr lang="es-ES" dirty="0" err="1"/>
              <a:t>Programming</a:t>
            </a:r>
            <a:endParaRPr lang="es-E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3916894-6C07-38C8-5EAC-9B9729319024}"/>
              </a:ext>
            </a:extLst>
          </p:cNvPr>
          <p:cNvSpPr txBox="1">
            <a:spLocks/>
          </p:cNvSpPr>
          <p:nvPr/>
        </p:nvSpPr>
        <p:spPr>
          <a:xfrm>
            <a:off x="4873754" y="2638045"/>
            <a:ext cx="3063240" cy="385419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44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9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600" b="1" dirty="0"/>
              <a:t>PAIR PROGRAMMING</a:t>
            </a:r>
          </a:p>
          <a:p>
            <a:r>
              <a:rPr lang="es-ES" sz="1600" b="1" dirty="0"/>
              <a:t>Trabajo en parejas</a:t>
            </a:r>
          </a:p>
          <a:p>
            <a:pPr lvl="1"/>
            <a:r>
              <a:rPr lang="es-ES" sz="1400" dirty="0"/>
              <a:t>2 PERSONAS → 1 ORDENADOR</a:t>
            </a:r>
          </a:p>
          <a:p>
            <a:pPr lvl="1"/>
            <a:r>
              <a:rPr lang="es-ES" sz="1400" dirty="0"/>
              <a:t>Driver → escribe código</a:t>
            </a:r>
          </a:p>
          <a:p>
            <a:pPr lvl="1"/>
            <a:r>
              <a:rPr lang="es-ES" sz="1400" dirty="0" err="1"/>
              <a:t>Navigator</a:t>
            </a:r>
            <a:r>
              <a:rPr lang="es-ES" sz="1400" dirty="0"/>
              <a:t> → revisa, piensa, corrige</a:t>
            </a:r>
          </a:p>
          <a:p>
            <a:r>
              <a:rPr lang="es-ES" sz="1600" b="1" dirty="0"/>
              <a:t>Beneficios</a:t>
            </a:r>
          </a:p>
          <a:p>
            <a:pPr lvl="1"/>
            <a:r>
              <a:rPr lang="es-ES" sz="1400" dirty="0"/>
              <a:t>Menos errores</a:t>
            </a:r>
          </a:p>
          <a:p>
            <a:pPr lvl="1"/>
            <a:r>
              <a:rPr lang="es-ES" sz="1400" dirty="0"/>
              <a:t>Mejor calidad de código</a:t>
            </a:r>
          </a:p>
          <a:p>
            <a:pPr lvl="1"/>
            <a:r>
              <a:rPr lang="es-ES" sz="1400" dirty="0"/>
              <a:t>Aprendizaje constante</a:t>
            </a:r>
          </a:p>
          <a:p>
            <a:pPr lvl="1"/>
            <a:r>
              <a:rPr lang="es-ES" sz="1400" dirty="0"/>
              <a:t>Código más uniforme</a:t>
            </a:r>
          </a:p>
          <a:p>
            <a:pPr lvl="1"/>
            <a:r>
              <a:rPr lang="es-ES" sz="1400" dirty="0"/>
              <a:t>Menos bloqueos</a:t>
            </a:r>
          </a:p>
          <a:p>
            <a:pPr lvl="1"/>
            <a:r>
              <a:rPr lang="es-ES" sz="1400" dirty="0"/>
              <a:t>Mejor comunicación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Problema</a:t>
            </a:r>
            <a:r>
              <a:rPr lang="es-ES" dirty="0"/>
              <a:t> / contexto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6045" y="2386585"/>
            <a:ext cx="7007603" cy="4187952"/>
          </a:xfrm>
        </p:spPr>
        <p:txBody>
          <a:bodyPr>
            <a:normAutofit fontScale="77500" lnSpcReduction="20000"/>
          </a:bodyPr>
          <a:lstStyle/>
          <a:p>
            <a:r>
              <a:rPr lang="es-ES" dirty="0"/>
              <a:t>🏫</a:t>
            </a:r>
            <a:r>
              <a:rPr lang="es-ES" b="1" dirty="0"/>
              <a:t>Entorno del proyecto</a:t>
            </a:r>
          </a:p>
          <a:p>
            <a:pPr lvl="1"/>
            <a:r>
              <a:rPr lang="es-ES" dirty="0"/>
              <a:t>El taller de Informática del IES Miguel Herrero Pereda es un espacio compartido por los ciclos ASIR, DAM, DAW y SMR. </a:t>
            </a:r>
          </a:p>
          <a:p>
            <a:pPr lvl="1"/>
            <a:r>
              <a:rPr lang="es-ES" dirty="0"/>
              <a:t>Se utiliza para prácticas con hardware, herramientas y material fungible.</a:t>
            </a:r>
          </a:p>
          <a:p>
            <a:r>
              <a:rPr lang="es-ES" dirty="0"/>
              <a:t>⚠️</a:t>
            </a:r>
            <a:r>
              <a:rPr lang="es-ES" b="1" dirty="0"/>
              <a:t>Problema actual</a:t>
            </a:r>
          </a:p>
          <a:p>
            <a:pPr lvl="1"/>
            <a:r>
              <a:rPr lang="es-ES" dirty="0"/>
              <a:t>La gestión del material se realiza de forma manual. </a:t>
            </a:r>
          </a:p>
          <a:p>
            <a:pPr lvl="1"/>
            <a:r>
              <a:rPr lang="es-ES" dirty="0"/>
              <a:t>Esto provoca dificultades en: </a:t>
            </a:r>
          </a:p>
          <a:p>
            <a:pPr lvl="2"/>
            <a:r>
              <a:rPr lang="es-ES" dirty="0"/>
              <a:t>Inventariado </a:t>
            </a:r>
          </a:p>
          <a:p>
            <a:pPr lvl="2"/>
            <a:r>
              <a:rPr lang="es-ES" dirty="0"/>
              <a:t>Localización de recursos </a:t>
            </a:r>
          </a:p>
          <a:p>
            <a:pPr lvl="2"/>
            <a:r>
              <a:rPr lang="es-ES" dirty="0"/>
              <a:t>Control del material</a:t>
            </a:r>
          </a:p>
          <a:p>
            <a:r>
              <a:rPr lang="es-ES" dirty="0"/>
              <a:t>🎯</a:t>
            </a:r>
            <a:r>
              <a:rPr lang="es-ES" b="1" dirty="0"/>
              <a:t>Necesidad del proyecto</a:t>
            </a:r>
          </a:p>
          <a:p>
            <a:pPr lvl="1"/>
            <a:r>
              <a:rPr lang="es-ES" dirty="0"/>
              <a:t>Desarrollar una aplicación que permita: </a:t>
            </a:r>
          </a:p>
          <a:p>
            <a:pPr lvl="2"/>
            <a:r>
              <a:rPr lang="es-ES" dirty="0"/>
              <a:t>Inventariar y clasificar materiales </a:t>
            </a:r>
          </a:p>
          <a:p>
            <a:pPr lvl="2"/>
            <a:r>
              <a:rPr lang="es-ES" dirty="0"/>
              <a:t>Localizar elementos rápidamente </a:t>
            </a:r>
          </a:p>
          <a:p>
            <a:pPr lvl="2"/>
            <a:r>
              <a:rPr lang="es-ES" dirty="0"/>
              <a:t>Visualizar el taller de forma gráfica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Nuestro producto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6045" y="2409445"/>
            <a:ext cx="5937755" cy="3899915"/>
          </a:xfrm>
        </p:spPr>
        <p:txBody>
          <a:bodyPr>
            <a:normAutofit fontScale="77500" lnSpcReduction="20000"/>
          </a:bodyPr>
          <a:lstStyle/>
          <a:p>
            <a:r>
              <a:rPr lang="es-ES" b="1" dirty="0"/>
              <a:t>🖥️ Aplicación de escritorio Java</a:t>
            </a:r>
            <a:r>
              <a:rPr lang="es-ES" dirty="0"/>
              <a:t> </a:t>
            </a:r>
          </a:p>
          <a:p>
            <a:pPr lvl="1"/>
            <a:r>
              <a:rPr lang="es-ES" dirty="0"/>
              <a:t>Interfaz construida con </a:t>
            </a:r>
            <a:r>
              <a:rPr lang="es-ES" b="1" dirty="0"/>
              <a:t>Java Swing</a:t>
            </a:r>
            <a:r>
              <a:rPr lang="es-ES" dirty="0"/>
              <a:t>, conectada a la base de datos mediante </a:t>
            </a:r>
            <a:r>
              <a:rPr lang="es-ES" b="1" dirty="0"/>
              <a:t>JDBC</a:t>
            </a:r>
            <a:r>
              <a:rPr lang="es-ES" dirty="0"/>
              <a:t>. Incluye tres módulos:</a:t>
            </a:r>
          </a:p>
          <a:p>
            <a:pPr lvl="2"/>
            <a:r>
              <a:rPr lang="es-ES" dirty="0"/>
              <a:t>🔐 </a:t>
            </a:r>
            <a:r>
              <a:rPr lang="es-ES" b="1" dirty="0"/>
              <a:t>Módulo de inventario</a:t>
            </a:r>
            <a:r>
              <a:rPr lang="es-ES" dirty="0"/>
              <a:t> — gestión completa (Administrador)</a:t>
            </a:r>
          </a:p>
          <a:p>
            <a:pPr lvl="2"/>
            <a:r>
              <a:rPr lang="es-ES" dirty="0"/>
              <a:t>🔍 </a:t>
            </a:r>
            <a:r>
              <a:rPr lang="es-ES" b="1" dirty="0"/>
              <a:t>Módulo de consulta</a:t>
            </a:r>
            <a:r>
              <a:rPr lang="es-ES" dirty="0"/>
              <a:t> — localización de componentes (Profesor)</a:t>
            </a:r>
          </a:p>
          <a:p>
            <a:pPr lvl="2"/>
            <a:r>
              <a:rPr lang="es-ES" dirty="0"/>
              <a:t>📄 </a:t>
            </a:r>
            <a:r>
              <a:rPr lang="es-ES" b="1" dirty="0"/>
              <a:t>Módulo de informes</a:t>
            </a:r>
            <a:r>
              <a:rPr lang="es-ES" dirty="0"/>
              <a:t> — exportación a PDF / Excel</a:t>
            </a:r>
          </a:p>
          <a:p>
            <a:r>
              <a:rPr lang="es-ES" b="1" dirty="0"/>
              <a:t>🌐 Página web del taller</a:t>
            </a:r>
            <a:r>
              <a:rPr lang="es-ES" dirty="0"/>
              <a:t> </a:t>
            </a:r>
          </a:p>
          <a:p>
            <a:pPr lvl="1"/>
            <a:r>
              <a:rPr lang="es-ES" dirty="0"/>
              <a:t>Muestra de forma gráfica la </a:t>
            </a:r>
            <a:r>
              <a:rPr lang="es-ES" b="1" dirty="0"/>
              <a:t>distribución física del taller</a:t>
            </a:r>
            <a:r>
              <a:rPr lang="es-ES" dirty="0"/>
              <a:t>, accesible desde los ordenadores del laboratorio. Desarrollada con HTML, CSS y JavaScript.</a:t>
            </a:r>
          </a:p>
          <a:p>
            <a:r>
              <a:rPr lang="es-ES" b="1" dirty="0"/>
              <a:t>🛠️ Infraestructura virtualizada</a:t>
            </a:r>
            <a:r>
              <a:rPr lang="es-ES" dirty="0"/>
              <a:t> </a:t>
            </a:r>
          </a:p>
          <a:p>
            <a:pPr lvl="1"/>
            <a:r>
              <a:rPr lang="es-ES" dirty="0"/>
              <a:t>El sistema se despliega sobre dos máquinas virtuales con separación de responsabilidades:</a:t>
            </a:r>
          </a:p>
          <a:p>
            <a:pPr lvl="2"/>
            <a:r>
              <a:rPr lang="es-ES" b="1" dirty="0"/>
              <a:t>MV 1</a:t>
            </a:r>
            <a:r>
              <a:rPr lang="es-ES" dirty="0"/>
              <a:t> — Aloja la base de datos MySQL. Solo accesible desde la MV 2.</a:t>
            </a:r>
          </a:p>
          <a:p>
            <a:pPr lvl="2"/>
            <a:r>
              <a:rPr lang="es-ES" b="1" dirty="0"/>
              <a:t>MV 2</a:t>
            </a:r>
            <a:r>
              <a:rPr lang="es-ES" dirty="0"/>
              <a:t> — Aloja la aplicación web. Accesible desde los equipos del laboratorio.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Arquitectura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HTML, CSS, JS</a:t>
            </a:r>
          </a:p>
          <a:p>
            <a:r>
              <a:t>Datos: CSV</a:t>
            </a:r>
          </a:p>
          <a:p>
            <a:r>
              <a:t>Sistema modular y escalable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Funcionalidades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Inventario dinámico</a:t>
            </a:r>
          </a:p>
          <a:p>
            <a:r>
              <a:t>Mapa interactivo</a:t>
            </a:r>
          </a:p>
          <a:p>
            <a:r>
              <a:t>Galería de imágenes</a:t>
            </a:r>
          </a:p>
          <a:p>
            <a:r>
              <a:t>Web responsive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alcanzados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Sistema funcional</a:t>
            </a:r>
          </a:p>
          <a:p>
            <a:r>
              <a:t>Interfaz interactiva</a:t>
            </a:r>
          </a:p>
          <a:p>
            <a:r>
              <a:t>Datos dinámicos</a:t>
            </a:r>
          </a:p>
          <a:p>
            <a:r>
              <a:t>Navegación completa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Evolución y mejoras futuras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Base de datos real</a:t>
            </a:r>
          </a:p>
          <a:p>
            <a:r>
              <a:t>Login de usuarios</a:t>
            </a:r>
          </a:p>
          <a:p>
            <a:r>
              <a:t>App móvil</a:t>
            </a:r>
          </a:p>
          <a:p>
            <a:r>
              <a:t>Mejoras UI/UX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Cierre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Gracias por la atención</a:t>
            </a:r>
          </a:p>
          <a:p>
            <a:r>
              <a:t>¿Preguntas?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quete">
  <a:themeElements>
    <a:clrScheme name="Paquete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quete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quet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TM10001115[[fn=Paquete]]</Template>
  <TotalTime>27</TotalTime>
  <Words>393</Words>
  <Application>Microsoft Office PowerPoint</Application>
  <PresentationFormat>Presentación en pantalla (4:3)</PresentationFormat>
  <Paragraphs>80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Arial</vt:lpstr>
      <vt:lpstr>Gill Sans MT</vt:lpstr>
      <vt:lpstr>Paquete</vt:lpstr>
      <vt:lpstr>{ Inventario Taller informática }</vt:lpstr>
      <vt:lpstr>Quiénes somos</vt:lpstr>
      <vt:lpstr>Metodología de trabajo</vt:lpstr>
      <vt:lpstr>Problema / contexto</vt:lpstr>
      <vt:lpstr>Nuestro producto</vt:lpstr>
      <vt:lpstr>Arquitectura</vt:lpstr>
      <vt:lpstr>Funcionalidades</vt:lpstr>
      <vt:lpstr>Objetivos alcanzados</vt:lpstr>
      <vt:lpstr>Evolución y mejoras futuras</vt:lpstr>
      <vt:lpstr>Cierre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Cristian Platero Zayago</cp:lastModifiedBy>
  <cp:revision>3</cp:revision>
  <dcterms:created xsi:type="dcterms:W3CDTF">2013-01-27T09:14:16Z</dcterms:created>
  <dcterms:modified xsi:type="dcterms:W3CDTF">2026-05-14T16:12:26Z</dcterms:modified>
  <cp:category/>
</cp:coreProperties>
</file>